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sec</a:t>
            </a:r>
          </a:p>
          <a:p/>
          <a:p>
            <a:r>
              <a:t>OPENING (warm + confident):</a:t>
            </a:r>
          </a:p>
          <a:p>
            <a:r>
              <a:t>"Thanks for being here. This is a 15-minute walk through a project that proves a small group of people — many of them non-coders — can ship real production software now, with AI as a teammate. I'm going to show you what we built, how, and where you fit in."</a:t>
            </a:r>
          </a:p>
          <a:p/>
          <a:p>
            <a:r>
              <a:t>NOTES:</a:t>
            </a:r>
          </a:p>
          <a:p>
            <a:r>
              <a:t>- Don't say "vibe coding" yet — let it land in slide 4</a:t>
            </a:r>
          </a:p>
          <a:p>
            <a:r>
              <a:t>- Mix of technical + non-technical in the room: keep eye contact split</a:t>
            </a:r>
          </a:p>
          <a:p>
            <a:r>
              <a:t>- If the demo URL is live, mention "you can pull this up on your phone right now"</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90 sec</a:t>
            </a:r>
          </a:p>
          <a:p/>
          <a:p>
            <a:r>
              <a:t>KEY POINTS:</a:t>
            </a:r>
          </a:p>
          <a:p>
            <a:r>
              <a:t>1. Frame the pain first — "intake hell" resonates with anyone who's ever volunteered at a food bank, free clinic, or housing nonprofit.</a:t>
            </a:r>
          </a:p>
          <a:p>
            <a:r>
              <a:t>2. Three concrete benefits, one per audience role.</a:t>
            </a:r>
          </a:p>
          <a:p>
            <a:r>
              <a:t>3. Land on "built for and with" — this signals that we want their input, which is the recruiting hook.</a:t>
            </a:r>
          </a:p>
          <a:p/>
          <a:p>
            <a:r>
              <a:t>ANALOGY (if non-tech audience):</a:t>
            </a:r>
          </a:p>
          <a:p>
            <a:r>
              <a:t>"Think of it like the difference between filling out 8 PDFs and texting a friend who already knows what to ask."</a:t>
            </a:r>
          </a:p>
          <a:p/>
          <a:p>
            <a:r>
              <a:t>DO NOT:</a:t>
            </a:r>
          </a:p>
          <a:p>
            <a:r>
              <a:t>- List every feature here. That's the next slide.</a:t>
            </a:r>
          </a:p>
          <a:p>
            <a:r>
              <a:t>- Mention competitors. Stay focused on the work.</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 (this is where the live demo happens)</a:t>
            </a:r>
          </a:p>
          <a:p/>
          <a:p>
            <a:r>
              <a:t>LIVE DEMO:</a:t>
            </a:r>
          </a:p>
          <a:p>
            <a:r>
              <a:t>Open two browser windows on the projector:</a:t>
            </a:r>
          </a:p>
          <a:p>
            <a:r>
              <a:t>1. Phone or laptop on the public landing page (the AI chatbot)</a:t>
            </a:r>
          </a:p>
          <a:p>
            <a:r>
              <a:t>2. Dashboard logged in as a case worker</a:t>
            </a:r>
          </a:p>
          <a:p/>
          <a:p>
            <a:r>
              <a:t>WALK THROUGH:</a:t>
            </a:r>
          </a:p>
          <a:p>
            <a:r>
              <a:t>- "I'm a person needing housing help" → say one sentence to the AI chatbot. Watch it ask for the right follow-up info.</a:t>
            </a:r>
          </a:p>
          <a:p>
            <a:r>
              <a:t>- Switch to dashboard → "and here it is, in real time."</a:t>
            </a:r>
          </a:p>
          <a:p>
            <a:r>
              <a:t>- Click into the new intake → show the case status dropdown → flip it to 'assigned' → "watch — the client just got an email saying a case manager is on it. And an SMS, and a WhatsApp."</a:t>
            </a:r>
          </a:p>
          <a:p/>
          <a:p>
            <a:r>
              <a:t>IF DEMO BREAKS:</a:t>
            </a:r>
          </a:p>
          <a:p>
            <a:r>
              <a:t>- That's fine — say "this is software, software breaks."</a:t>
            </a:r>
          </a:p>
          <a:p>
            <a:r>
              <a:t>- Pivot to screenshots if you've got them prepped.</a:t>
            </a:r>
          </a:p>
          <a:p>
            <a:r>
              <a:t>- Don't try to debug live; it eats time and audience attention.</a:t>
            </a:r>
          </a:p>
          <a:p/>
          <a:p>
            <a:r>
              <a:t>IF DEMO GOES LONG:</a:t>
            </a:r>
          </a:p>
          <a:p>
            <a:r>
              <a:t>- Cut the SMS / WhatsApp demo (the email one alone makes the point).</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a:t>
            </a:r>
          </a:p>
          <a:p/>
          <a:p>
            <a:r>
              <a:t>DEFINE FIRST: pause and say the term out loud.</a:t>
            </a:r>
          </a:p>
          <a:p>
            <a:r>
              <a:t>"Vibe coding is a term coined by Andrej Karpathy earlier this year. The idea is: you describe the vibe of what you want, and the AI handles the typing. Your job becomes direction, not production."</a:t>
            </a:r>
          </a:p>
          <a:p/>
          <a:p>
            <a:r>
              <a:t>THEN: the WhatsApp story.</a:t>
            </a:r>
          </a:p>
          <a:p>
            <a:r>
              <a:t>- Six words → working feature, end to end.</a:t>
            </a:r>
          </a:p>
          <a:p>
            <a:r>
              <a:t>- Mention this is REAL — not staged, not a demo project. Real Twilio account, real WhatsApp message, real production deploy at the time.</a:t>
            </a:r>
          </a:p>
          <a:p/>
          <a:p>
            <a:r>
              <a:t>PUNCHLINE — say it slowly:</a:t>
            </a:r>
          </a:p>
          <a:p>
            <a:r>
              <a:t>"The bottleneck stopped being typing code. It became knowing what to ask for."</a:t>
            </a:r>
          </a:p>
          <a:p/>
          <a:p>
            <a:r>
              <a:t>TIE TO AUDIENCE:</a:t>
            </a:r>
          </a:p>
          <a:p>
            <a:r>
              <a:t>- Tech folks: "Your code-review skills matter more than ever."</a:t>
            </a:r>
          </a:p>
          <a:p>
            <a:r>
              <a:t>- Non-tech: "If you can describe what you want clearly, you can ship."</a:t>
            </a:r>
          </a:p>
          <a:p/>
          <a:p>
            <a:r>
              <a:t>OPTIONAL LIVE BIT:</a:t>
            </a:r>
          </a:p>
          <a:p>
            <a:r>
              <a:t>If you have a laptop with Claude Code running, open a new terminal and run a tiny request live. Example: ask it to add a confirmation modal to one button. Watch it write the code in front of the audience. RISKY but high impact if it works.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a:t>
            </a:r>
          </a:p>
          <a:p/>
          <a:p>
            <a:r>
              <a:t>CONTRAST CLEARLY:</a:t>
            </a:r>
          </a:p>
          <a:p>
            <a:r>
              <a:t>"ChatGPT answers questions. An agent does the work."</a:t>
            </a:r>
          </a:p>
          <a:p/>
          <a:p>
            <a:r>
              <a:t>POINT TO THE LIST:</a:t>
            </a:r>
          </a:p>
          <a:p>
            <a:r>
              <a:t>"Every check mark here is a real thing that happened on this project. Not in a sandbox — on actual AWS infrastructure with real credentials."</a:t>
            </a:r>
          </a:p>
          <a:p/>
          <a:p>
            <a:r>
              <a:t>WAR STORY (pick one):</a:t>
            </a:r>
          </a:p>
          <a:p>
            <a:r>
              <a:t>1. JWT mismatch — Supabase migrated to ES256 partway through, every login broke, agent diagnosed and fixed it in 10 minutes.</a:t>
            </a:r>
          </a:p>
          <a:p>
            <a:r>
              <a:t>2. Leaked AWS keys — agent spotted them in a config file, rotated them, and updated GitHub secrets and the live ECS task — without downtime.</a:t>
            </a:r>
          </a:p>
          <a:p>
            <a:r>
              <a:t>3. DNS — agent traced why www.wedkai.com worked but apex didn't, all the way to GoDaddy forwarding settings.</a:t>
            </a:r>
          </a:p>
          <a:p/>
          <a:p>
            <a:r>
              <a:t>These are the kinds of multi-step incidents that used to need an on-call engineer + a meeting. Now: one prompt, one human watching.</a:t>
            </a:r>
          </a:p>
          <a:p/>
          <a:p>
            <a:r>
              <a:t>DON'T:</a:t>
            </a:r>
          </a:p>
          <a:p>
            <a:r>
              <a:t>- Oversell. The human still needed to confirm sensitive steps.</a:t>
            </a:r>
          </a:p>
          <a:p>
            <a:r>
              <a:t>- The point is "force multiplier," not "replaces humans."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sec — this is a "skim" slide</a:t>
            </a:r>
          </a:p>
          <a:p/>
          <a:p>
            <a:r>
              <a:t>ASK FIRST: "Quick show of hands — who's a developer?"</a:t>
            </a:r>
          </a:p>
          <a:p/>
          <a:p>
            <a:r>
              <a:t>IF MOSTLY DEVS:</a:t>
            </a:r>
          </a:p>
          <a:p>
            <a:r>
              <a:t>Spend more time. Mention you can swap any layer (e.g. Resend → SES, Supabase → self-hosted Postgres) and the AI handles the refactor.</a:t>
            </a:r>
          </a:p>
          <a:p/>
          <a:p>
            <a:r>
              <a:t>IF MOSTLY NON-DEVS:</a:t>
            </a:r>
          </a:p>
          <a:p>
            <a:r>
              <a:t>"You don't need to know any of these names. I'm showing you the stack just so you know there's nothing exotic here — these are standard tools. Anyone with a few months of practice could maintain this."</a:t>
            </a:r>
          </a:p>
          <a:p/>
          <a:p>
            <a:r>
              <a:t>PUNCH:</a:t>
            </a:r>
          </a:p>
          <a:p>
            <a:r>
              <a:t>"What's interesting isn't the stack. It's that we shipped this whole stack with the AI as the integration engineer."</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90 sec</a:t>
            </a:r>
          </a:p>
          <a:p/>
          <a:p>
            <a:r>
              <a:t>POSTURE: lean in. This is the recruiting moment for half your audience.</a:t>
            </a:r>
          </a:p>
          <a:p/>
          <a:p>
            <a:r>
              <a:t>EMPHASIZE:</a:t>
            </a:r>
          </a:p>
          <a:p>
            <a:r>
              <a:t>"You don't need to write code." Repeat it. Many people in the room will be quietly thinking they're not technical enough to contribute.</a:t>
            </a:r>
          </a:p>
          <a:p/>
          <a:p>
            <a:r>
              <a:t>CONCRETE ASKS:</a:t>
            </a:r>
          </a:p>
          <a:p>
            <a:r>
              <a:t>Pick ONE bullet and go deep, rather than skimming all six. The "translate" bullet is great if the room is diverse linguistically. The "pilot it" bullet is great if there are nonprofit folks present.</a:t>
            </a:r>
          </a:p>
          <a:p/>
          <a:p>
            <a:r>
              <a:t>CALL OUT NAMES IF YOU CAN:</a:t>
            </a:r>
          </a:p>
          <a:p>
            <a:r>
              <a:t>"Sara, you mentioned you run intake at [Org] — that 'pilot it' bullet is literally aimed at you."</a:t>
            </a:r>
          </a:p>
          <a:p/>
          <a:p>
            <a:r>
              <a:t>THE LAST LINE IS THE PUNCHLINE:</a:t>
            </a:r>
          </a:p>
          <a:p>
            <a:r>
              <a:t>"The features above were prioritized by someone like you telling the team what mattered." Pause. Let it sit.</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90 sec</a:t>
            </a:r>
          </a:p>
          <a:p/>
          <a:p>
            <a:r>
              <a:t>POSTURE: this is the recruiting moment for the OTHER half of the audience.</a:t>
            </a:r>
          </a:p>
          <a:p/>
          <a:p>
            <a:r>
              <a:t>THE 5 ROADMAP ITEMS:</a:t>
            </a:r>
          </a:p>
          <a:p>
            <a:r>
              <a:t>Don't read them all out. Mention 2-3 you find most interesting. The bullets are there for the slide deck PDF that lives on after.</a:t>
            </a:r>
          </a:p>
          <a:p/>
          <a:p>
            <a:r>
              <a:t>REASSURE NEW CONTRIBUTORS:</a:t>
            </a:r>
          </a:p>
          <a:p>
            <a:r>
              <a:t>"If you've never contributed to an open-source project, this is a gentle entry point. Pick a small thing. Type one sentence to your AI. Read what it produces. Send a PR. We'll review it kindly."</a:t>
            </a:r>
          </a:p>
          <a:p/>
          <a:p>
            <a:r>
              <a:t>REASSURE EXPERIENCED ENGINEERS:</a:t>
            </a:r>
          </a:p>
          <a:p>
            <a:r>
              <a:t>"If you're a senior eng wondering 'is this codebase a mess' — the quality bar in here is set by Pydantic + TypeScript types + pytest + ESLint. You'll feel at home."</a:t>
            </a:r>
          </a:p>
          <a:p/>
          <a:p>
            <a:r>
              <a:t>OFFER PAIR PROGRAMMING:</a:t>
            </a:r>
          </a:p>
          <a:p>
            <a:r>
              <a:t>"If you want to ship something together, I'll pair with you live for an hour. Just DM me."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sec</a:t>
            </a:r>
          </a:p>
          <a:p/>
          <a:p>
            <a:r>
              <a:t>POSTURE: this is the takeaway slide. Slow down.</a:t>
            </a:r>
          </a:p>
          <a:p/>
          <a:p>
            <a:r>
              <a:t>NUMBERS LAND BETTER WHEN SPOKEN, NOT READ:</a:t>
            </a:r>
          </a:p>
          <a:p>
            <a:r>
              <a:t>Don't say "twenty plus committed features." Say "we shipped more than twenty features. And that's just what's on this branch."</a:t>
            </a:r>
          </a:p>
          <a:p/>
          <a:p>
            <a:r>
              <a:t>THE BEFORE/AFTER LIST:</a:t>
            </a:r>
          </a:p>
          <a:p>
            <a:r>
              <a:t>Read each item aloud. The "before → after" cadence is the rhetorical trick that makes the point stick.</a:t>
            </a:r>
          </a:p>
          <a:p/>
          <a:p>
            <a:r>
              <a:t>LAST LINE — say slowly, look up from notes:</a:t>
            </a:r>
          </a:p>
          <a:p>
            <a:r>
              <a:t>"The remaining hard parts are judgment, taste, and care — exactly the things humans should own."</a:t>
            </a:r>
          </a:p>
          <a:p/>
          <a:p>
            <a:r>
              <a:t>This is your money line. Pause. Move on.</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90 sec + Q&amp;A</a:t>
            </a:r>
          </a:p>
          <a:p/>
          <a:p>
            <a:r>
              <a:t>LEAVE THIS SLIDE UP through Q&amp;A — people will photograph it.</a:t>
            </a:r>
          </a:p>
          <a:p/>
          <a:p>
            <a:r>
              <a:t>OFFER TO LINGER:</a:t>
            </a:r>
          </a:p>
          <a:p>
            <a:r>
              <a:t>"I'll be in the [room / corner / coffee area] for the next 20 minutes. Come find me if you want to chat about anything you saw today."</a:t>
            </a:r>
          </a:p>
          <a:p/>
          <a:p>
            <a:r>
              <a:t>ASK A QUESTION BACK:</a:t>
            </a:r>
          </a:p>
          <a:p>
            <a:r>
              <a:t>"Before we close — what's one feature you'd add tomorrow if you had the time and tools? Just shout it out."</a:t>
            </a:r>
          </a:p>
          <a:p>
            <a:r>
              <a:t>This often surfaces your next 2-3 best contributors.</a:t>
            </a:r>
          </a:p>
          <a:p/>
          <a:p>
            <a:r>
              <a:t>PRACTICAL NEXT STEPS:</a:t>
            </a:r>
          </a:p>
          <a:p>
            <a:r>
              <a:t>- If you're collecting signups, have a QR code or Google Form ready.</a:t>
            </a:r>
          </a:p>
          <a:p>
            <a:r>
              <a:t>- Print 5-10 paper copies of the contact info for people who don't photograph slides.</a:t>
            </a:r>
          </a:p>
          <a:p>
            <a:r>
              <a:t>- Mention any in-person follow-up: "I'm hosting an intro-to-Claude-Code workshop next Saturday."</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40080"/>
            <a:ext cx="7315200" cy="365760"/>
          </a:xfrm>
          <a:prstGeom prst="rect">
            <a:avLst/>
          </a:prstGeom>
          <a:noFill/>
        </p:spPr>
        <p:txBody>
          <a:bodyPr wrap="square">
            <a:spAutoFit/>
          </a:bodyPr>
          <a:lstStyle/>
          <a:p>
            <a:pPr algn="l"/>
            <a:r>
              <a:rPr sz="1200" b="1" i="0">
                <a:solidFill>
                  <a:srgbClr val="4F46E5"/>
                </a:solidFill>
              </a:rPr>
              <a:t>Brightwayz · Demo + Volunteer Pitch</a:t>
            </a:r>
          </a:p>
        </p:txBody>
      </p:sp>
      <p:sp>
        <p:nvSpPr>
          <p:cNvPr id="3" name="TextBox 2"/>
          <p:cNvSpPr txBox="1"/>
          <p:nvPr/>
        </p:nvSpPr>
        <p:spPr>
          <a:xfrm>
            <a:off x="548640" y="1188720"/>
            <a:ext cx="10972800" cy="1371600"/>
          </a:xfrm>
          <a:prstGeom prst="rect">
            <a:avLst/>
          </a:prstGeom>
          <a:noFill/>
        </p:spPr>
        <p:txBody>
          <a:bodyPr wrap="square">
            <a:spAutoFit/>
          </a:bodyPr>
          <a:lstStyle/>
          <a:p>
            <a:pPr algn="l"/>
            <a:r>
              <a:rPr sz="4000" b="1" i="0">
                <a:solidFill>
                  <a:srgbClr val="4F46E5"/>
                </a:solidFill>
              </a:rPr>
              <a:t>Building a community-services platform — with AI as a teammate</a:t>
            </a:r>
          </a:p>
        </p:txBody>
      </p:sp>
      <p:sp>
        <p:nvSpPr>
          <p:cNvPr id="4" name="TextBox 3"/>
          <p:cNvSpPr txBox="1"/>
          <p:nvPr/>
        </p:nvSpPr>
        <p:spPr>
          <a:xfrm>
            <a:off x="548640" y="3474720"/>
            <a:ext cx="10972800" cy="1828800"/>
          </a:xfrm>
          <a:prstGeom prst="rect">
            <a:avLst/>
          </a:prstGeom>
          <a:noFill/>
        </p:spPr>
        <p:txBody>
          <a:bodyPr wrap="square">
            <a:spAutoFit/>
          </a:bodyPr>
          <a:lstStyle/>
          <a:p>
            <a:r>
              <a:rPr sz="2200">
                <a:solidFill>
                  <a:srgbClr val="6B7280"/>
                </a:solidFill>
              </a:rPr>
              <a:t>A live look at what we shipped, how we shipped it, and how you can help.</a:t>
            </a:r>
          </a:p>
        </p:txBody>
      </p:sp>
      <p:sp>
        <p:nvSpPr>
          <p:cNvPr id="5" name="TextBox 4"/>
          <p:cNvSpPr txBox="1"/>
          <p:nvPr/>
        </p:nvSpPr>
        <p:spPr>
          <a:xfrm>
            <a:off x="548640" y="5029200"/>
            <a:ext cx="10972800" cy="731520"/>
          </a:xfrm>
          <a:prstGeom prst="rect">
            <a:avLst/>
          </a:prstGeom>
          <a:noFill/>
        </p:spPr>
        <p:txBody>
          <a:bodyPr wrap="square">
            <a:spAutoFit/>
          </a:bodyPr>
          <a:lstStyle/>
          <a:p>
            <a:pPr algn="l"/>
            <a:r>
              <a:rPr sz="1400" b="0" i="1">
                <a:solidFill>
                  <a:srgbClr val="6B7280"/>
                </a:solidFill>
              </a:rPr>
              <a:t>brightwayz · connecting people with housing, food, employment, healthcare, and legal aid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1371600"/>
          </a:xfrm>
          <a:prstGeom prst="rect">
            <a:avLst/>
          </a:prstGeom>
          <a:noFill/>
        </p:spPr>
        <p:txBody>
          <a:bodyPr wrap="square">
            <a:spAutoFit/>
          </a:bodyPr>
          <a:lstStyle/>
          <a:p>
            <a:pPr algn="l"/>
            <a:r>
              <a:rPr sz="3600" b="1" i="0">
                <a:solidFill>
                  <a:srgbClr val="4F46E5"/>
                </a:solidFill>
              </a:rPr>
              <a:t>Why we're building this</a:t>
            </a:r>
          </a:p>
        </p:txBody>
      </p:sp>
      <p:sp>
        <p:nvSpPr>
          <p:cNvPr id="3" name="TextBox 2"/>
          <p:cNvSpPr txBox="1"/>
          <p:nvPr/>
        </p:nvSpPr>
        <p:spPr>
          <a:xfrm>
            <a:off x="548640" y="1463040"/>
            <a:ext cx="10972800" cy="914400"/>
          </a:xfrm>
          <a:prstGeom prst="rect">
            <a:avLst/>
          </a:prstGeom>
          <a:noFill/>
        </p:spPr>
        <p:txBody>
          <a:bodyPr wrap="square">
            <a:spAutoFit/>
          </a:bodyPr>
          <a:lstStyle/>
          <a:p>
            <a:pPr algn="l"/>
            <a:r>
              <a:rPr sz="1800" b="0" i="0">
                <a:solidFill>
                  <a:srgbClr val="1F2937"/>
                </a:solidFill>
              </a:rPr>
              <a:t>Community-service orgs spend hours on intake forms, follow-ups, referrals — work that's repetitive but high-stakes.</a:t>
            </a:r>
          </a:p>
        </p:txBody>
      </p:sp>
      <p:sp>
        <p:nvSpPr>
          <p:cNvPr id="4" name="TextBox 3"/>
          <p:cNvSpPr txBox="1"/>
          <p:nvPr/>
        </p:nvSpPr>
        <p:spPr>
          <a:xfrm>
            <a:off x="548640" y="2468880"/>
            <a:ext cx="10972800" cy="457200"/>
          </a:xfrm>
          <a:prstGeom prst="rect">
            <a:avLst/>
          </a:prstGeom>
          <a:noFill/>
        </p:spPr>
        <p:txBody>
          <a:bodyPr wrap="square">
            <a:spAutoFit/>
          </a:bodyPr>
          <a:lstStyle/>
          <a:p>
            <a:pPr algn="l"/>
            <a:r>
              <a:rPr sz="1800" b="1" i="0">
                <a:solidFill>
                  <a:srgbClr val="4F46E5"/>
                </a:solidFill>
              </a:rPr>
              <a:t>Brightwayz cuts the friction:</a:t>
            </a:r>
          </a:p>
        </p:txBody>
      </p:sp>
      <p:sp>
        <p:nvSpPr>
          <p:cNvPr id="5" name="TextBox 4"/>
          <p:cNvSpPr txBox="1"/>
          <p:nvPr/>
        </p:nvSpPr>
        <p:spPr>
          <a:xfrm>
            <a:off x="731520" y="3108960"/>
            <a:ext cx="10972800" cy="2743200"/>
          </a:xfrm>
          <a:prstGeom prst="rect">
            <a:avLst/>
          </a:prstGeom>
          <a:noFill/>
        </p:spPr>
        <p:txBody>
          <a:bodyPr wrap="square">
            <a:spAutoFit/>
          </a:bodyPr>
          <a:lstStyle/>
          <a:p>
            <a:pPr>
              <a:spcAft>
                <a:spcPts val="400"/>
              </a:spcAft>
            </a:pPr>
            <a:r>
              <a:rPr sz="1600">
                <a:solidFill>
                  <a:srgbClr val="1F2937"/>
                </a:solidFill>
              </a:rPr>
              <a:t>• People in need talk to an AI assistant (English / Spanish / French / Chinese / Arabic), describe their situation, get matched.</a:t>
            </a:r>
          </a:p>
          <a:p>
            <a:pPr>
              <a:spcAft>
                <a:spcPts val="400"/>
              </a:spcAft>
            </a:pPr>
            <a:r>
              <a:rPr sz="1600">
                <a:solidFill>
                  <a:srgbClr val="1F2937"/>
                </a:solidFill>
              </a:rPr>
              <a:t>• Case managers see every request in one dashboard: filter by need, status, ZIP, date.</a:t>
            </a:r>
          </a:p>
          <a:p>
            <a:pPr>
              <a:spcAft>
                <a:spcPts val="400"/>
              </a:spcAft>
            </a:pPr>
            <a:r>
              <a:rPr sz="1600">
                <a:solidFill>
                  <a:srgbClr val="1F2937"/>
                </a:solidFill>
              </a:rPr>
              <a:t>• Status changes auto-notify the client — email + SMS + WhatsApp — so nobody's left wondering.</a:t>
            </a:r>
          </a:p>
        </p:txBody>
      </p:sp>
      <p:sp>
        <p:nvSpPr>
          <p:cNvPr id="6" name="TextBox 5"/>
          <p:cNvSpPr txBox="1"/>
          <p:nvPr/>
        </p:nvSpPr>
        <p:spPr>
          <a:xfrm>
            <a:off x="548640" y="5943600"/>
            <a:ext cx="10972800" cy="457200"/>
          </a:xfrm>
          <a:prstGeom prst="rect">
            <a:avLst/>
          </a:prstGeom>
          <a:noFill/>
        </p:spPr>
        <p:txBody>
          <a:bodyPr wrap="square">
            <a:spAutoFit/>
          </a:bodyPr>
          <a:lstStyle/>
          <a:p>
            <a:pPr algn="l"/>
            <a:r>
              <a:rPr sz="1500" b="0" i="1">
                <a:solidFill>
                  <a:srgbClr val="6B7280"/>
                </a:solidFill>
              </a:rPr>
              <a:t>A free, accessible front door to social services. Built for and with the orgs that use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1371600"/>
          </a:xfrm>
          <a:prstGeom prst="rect">
            <a:avLst/>
          </a:prstGeom>
          <a:noFill/>
        </p:spPr>
        <p:txBody>
          <a:bodyPr wrap="square">
            <a:spAutoFit/>
          </a:bodyPr>
          <a:lstStyle/>
          <a:p>
            <a:pPr algn="l"/>
            <a:r>
              <a:rPr sz="3600" b="1" i="0">
                <a:solidFill>
                  <a:srgbClr val="4F46E5"/>
                </a:solidFill>
              </a:rPr>
              <a:t>What we've shipped (so far)</a:t>
            </a:r>
          </a:p>
        </p:txBody>
      </p:sp>
      <p:sp>
        <p:nvSpPr>
          <p:cNvPr id="3" name="TextBox 2"/>
          <p:cNvSpPr txBox="1"/>
          <p:nvPr/>
        </p:nvSpPr>
        <p:spPr>
          <a:xfrm>
            <a:off x="548640" y="1645920"/>
            <a:ext cx="5486400" cy="457200"/>
          </a:xfrm>
          <a:prstGeom prst="rect">
            <a:avLst/>
          </a:prstGeom>
          <a:noFill/>
        </p:spPr>
        <p:txBody>
          <a:bodyPr wrap="square">
            <a:spAutoFit/>
          </a:bodyPr>
          <a:lstStyle/>
          <a:p>
            <a:pPr algn="l"/>
            <a:r>
              <a:rPr sz="2200" b="1" i="0">
                <a:solidFill>
                  <a:srgbClr val="1F2937"/>
                </a:solidFill>
              </a:rPr>
              <a:t>For people seeking help</a:t>
            </a:r>
          </a:p>
        </p:txBody>
      </p:sp>
      <p:sp>
        <p:nvSpPr>
          <p:cNvPr id="4" name="TextBox 3"/>
          <p:cNvSpPr txBox="1"/>
          <p:nvPr/>
        </p:nvSpPr>
        <p:spPr>
          <a:xfrm>
            <a:off x="548640" y="2194560"/>
            <a:ext cx="5669280" cy="4114800"/>
          </a:xfrm>
          <a:prstGeom prst="rect">
            <a:avLst/>
          </a:prstGeom>
          <a:noFill/>
        </p:spPr>
        <p:txBody>
          <a:bodyPr wrap="square">
            <a:spAutoFit/>
          </a:bodyPr>
          <a:lstStyle/>
          <a:p>
            <a:pPr>
              <a:spcAft>
                <a:spcPts val="400"/>
              </a:spcAft>
            </a:pPr>
            <a:r>
              <a:rPr sz="1500">
                <a:solidFill>
                  <a:srgbClr val="1F2937"/>
                </a:solidFill>
              </a:rPr>
              <a:t>• AI chatbot on the homepage</a:t>
            </a:r>
          </a:p>
          <a:p>
            <a:pPr>
              <a:spcAft>
                <a:spcPts val="400"/>
              </a:spcAft>
            </a:pPr>
            <a:r>
              <a:rPr sz="1500">
                <a:solidFill>
                  <a:srgbClr val="1F2937"/>
                </a:solidFill>
              </a:rPr>
              <a:t>• Multi-step intake form</a:t>
            </a:r>
          </a:p>
          <a:p>
            <a:pPr>
              <a:spcAft>
                <a:spcPts val="400"/>
              </a:spcAft>
            </a:pPr>
            <a:r>
              <a:rPr sz="1500">
                <a:solidFill>
                  <a:srgbClr val="1F2937"/>
                </a:solidFill>
              </a:rPr>
              <a:t>• Public resource directory</a:t>
            </a:r>
          </a:p>
          <a:p>
            <a:pPr>
              <a:spcAft>
                <a:spcPts val="400"/>
              </a:spcAft>
            </a:pPr>
            <a:r>
              <a:rPr sz="1500">
                <a:solidFill>
                  <a:srgbClr val="1F2937"/>
                </a:solidFill>
              </a:rPr>
              <a:t>• Referral acceptance flow (token-based)</a:t>
            </a:r>
          </a:p>
          <a:p>
            <a:pPr>
              <a:spcAft>
                <a:spcPts val="400"/>
              </a:spcAft>
            </a:pPr>
            <a:r>
              <a:rPr sz="1500">
                <a:solidFill>
                  <a:srgbClr val="1F2937"/>
                </a:solidFill>
              </a:rPr>
              <a:t>• Mobile-first, multi-language</a:t>
            </a:r>
          </a:p>
        </p:txBody>
      </p:sp>
      <p:sp>
        <p:nvSpPr>
          <p:cNvPr id="5" name="TextBox 4"/>
          <p:cNvSpPr txBox="1"/>
          <p:nvPr/>
        </p:nvSpPr>
        <p:spPr>
          <a:xfrm>
            <a:off x="6400800" y="1645920"/>
            <a:ext cx="5486400" cy="457200"/>
          </a:xfrm>
          <a:prstGeom prst="rect">
            <a:avLst/>
          </a:prstGeom>
          <a:noFill/>
        </p:spPr>
        <p:txBody>
          <a:bodyPr wrap="square">
            <a:spAutoFit/>
          </a:bodyPr>
          <a:lstStyle/>
          <a:p>
            <a:pPr algn="l"/>
            <a:r>
              <a:rPr sz="2200" b="1" i="0">
                <a:solidFill>
                  <a:srgbClr val="1F2937"/>
                </a:solidFill>
              </a:rPr>
              <a:t>For case managers</a:t>
            </a:r>
          </a:p>
        </p:txBody>
      </p:sp>
      <p:sp>
        <p:nvSpPr>
          <p:cNvPr id="6" name="TextBox 5"/>
          <p:cNvSpPr txBox="1"/>
          <p:nvPr/>
        </p:nvSpPr>
        <p:spPr>
          <a:xfrm>
            <a:off x="6400800" y="2194560"/>
            <a:ext cx="5486400" cy="4114800"/>
          </a:xfrm>
          <a:prstGeom prst="rect">
            <a:avLst/>
          </a:prstGeom>
          <a:noFill/>
        </p:spPr>
        <p:txBody>
          <a:bodyPr wrap="square">
            <a:spAutoFit/>
          </a:bodyPr>
          <a:lstStyle/>
          <a:p>
            <a:pPr>
              <a:spcAft>
                <a:spcPts val="400"/>
              </a:spcAft>
            </a:pPr>
            <a:r>
              <a:rPr sz="1500">
                <a:solidFill>
                  <a:srgbClr val="1F2937"/>
                </a:solidFill>
              </a:rPr>
              <a:t>• Dashboard: clients · intakes · referrals · cases</a:t>
            </a:r>
          </a:p>
          <a:p>
            <a:pPr>
              <a:spcAft>
                <a:spcPts val="400"/>
              </a:spcAft>
            </a:pPr>
            <a:r>
              <a:rPr sz="1500">
                <a:solidFill>
                  <a:srgbClr val="1F2937"/>
                </a:solidFill>
              </a:rPr>
              <a:t>• Search &amp; filter (name, ZIP, date, status)</a:t>
            </a:r>
          </a:p>
          <a:p>
            <a:pPr>
              <a:spcAft>
                <a:spcPts val="400"/>
              </a:spcAft>
            </a:pPr>
            <a:r>
              <a:rPr sz="1500">
                <a:solidFill>
                  <a:srgbClr val="1F2937"/>
                </a:solidFill>
              </a:rPr>
              <a:t>• CRM lifecycle: open → assigned → in-progress → resolved → closed</a:t>
            </a:r>
          </a:p>
          <a:p>
            <a:pPr>
              <a:spcAft>
                <a:spcPts val="400"/>
              </a:spcAft>
            </a:pPr>
            <a:r>
              <a:rPr sz="1500">
                <a:solidFill>
                  <a:srgbClr val="1F2937"/>
                </a:solidFill>
              </a:rPr>
              <a:t>• Status changes → auto email + SMS to client</a:t>
            </a:r>
          </a:p>
          <a:p>
            <a:pPr>
              <a:spcAft>
                <a:spcPts val="400"/>
              </a:spcAft>
            </a:pPr>
            <a:r>
              <a:rPr sz="1500">
                <a:solidFill>
                  <a:srgbClr val="1F2937"/>
                </a:solidFill>
              </a:rPr>
              <a:t>• One-click WhatsApp / SMS to any client</a:t>
            </a:r>
          </a:p>
          <a:p>
            <a:pPr>
              <a:spcAft>
                <a:spcPts val="400"/>
              </a:spcAft>
            </a:pPr>
            <a:r>
              <a:rPr sz="1500">
                <a:solidFill>
                  <a:srgbClr val="1F2937"/>
                </a:solidFill>
              </a:rPr>
              <a:t>• Rich-text internal notes (case-worker only)</a:t>
            </a:r>
          </a:p>
          <a:p>
            <a:pPr>
              <a:spcAft>
                <a:spcPts val="400"/>
              </a:spcAft>
            </a:pPr>
            <a:r>
              <a:rPr sz="1500">
                <a:solidFill>
                  <a:srgbClr val="1F2937"/>
                </a:solidFill>
              </a:rPr>
              <a:t>• Convert intake → referral with one click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1371600"/>
          </a:xfrm>
          <a:prstGeom prst="rect">
            <a:avLst/>
          </a:prstGeom>
          <a:noFill/>
        </p:spPr>
        <p:txBody>
          <a:bodyPr wrap="square">
            <a:spAutoFit/>
          </a:bodyPr>
          <a:lstStyle/>
          <a:p>
            <a:pPr algn="l"/>
            <a:r>
              <a:rPr sz="3000" b="1" i="0">
                <a:solidFill>
                  <a:srgbClr val="4F46E5"/>
                </a:solidFill>
              </a:rPr>
              <a:t>How we built it: "vibe coding" with Claude Code</a:t>
            </a:r>
          </a:p>
        </p:txBody>
      </p:sp>
      <p:sp>
        <p:nvSpPr>
          <p:cNvPr id="3" name="TextBox 2"/>
          <p:cNvSpPr txBox="1"/>
          <p:nvPr/>
        </p:nvSpPr>
        <p:spPr>
          <a:xfrm>
            <a:off x="548640" y="1645920"/>
            <a:ext cx="10972800" cy="914400"/>
          </a:xfrm>
          <a:prstGeom prst="rect">
            <a:avLst/>
          </a:prstGeom>
          <a:noFill/>
        </p:spPr>
        <p:txBody>
          <a:bodyPr wrap="square">
            <a:spAutoFit/>
          </a:bodyPr>
          <a:lstStyle/>
          <a:p>
            <a:pPr algn="l"/>
            <a:r>
              <a:rPr sz="1800" b="0" i="1">
                <a:solidFill>
                  <a:srgbClr val="4F46E5"/>
                </a:solidFill>
              </a:rPr>
              <a:t>Vibe coding = describe the outcome, let AI do the typing. You review, course-correct, and own the direction.</a:t>
            </a:r>
          </a:p>
        </p:txBody>
      </p:sp>
      <p:sp>
        <p:nvSpPr>
          <p:cNvPr id="4" name="TextBox 3"/>
          <p:cNvSpPr txBox="1"/>
          <p:nvPr/>
        </p:nvSpPr>
        <p:spPr>
          <a:xfrm>
            <a:off x="548640" y="2926080"/>
            <a:ext cx="5486400" cy="457200"/>
          </a:xfrm>
          <a:prstGeom prst="rect">
            <a:avLst/>
          </a:prstGeom>
          <a:noFill/>
        </p:spPr>
        <p:txBody>
          <a:bodyPr wrap="square">
            <a:spAutoFit/>
          </a:bodyPr>
          <a:lstStyle/>
          <a:p>
            <a:pPr algn="l"/>
            <a:r>
              <a:rPr sz="1800" b="1" i="0">
                <a:solidFill>
                  <a:srgbClr val="1F2937"/>
                </a:solidFill>
              </a:rPr>
              <a:t>A real exchange from this project:</a:t>
            </a:r>
          </a:p>
        </p:txBody>
      </p:sp>
      <p:sp>
        <p:nvSpPr>
          <p:cNvPr id="5" name="TextBox 4"/>
          <p:cNvSpPr txBox="1"/>
          <p:nvPr/>
        </p:nvSpPr>
        <p:spPr>
          <a:xfrm>
            <a:off x="548640" y="3566160"/>
            <a:ext cx="10972800" cy="2286000"/>
          </a:xfrm>
          <a:prstGeom prst="rect">
            <a:avLst/>
          </a:prstGeom>
          <a:noFill/>
        </p:spPr>
        <p:txBody>
          <a:bodyPr wrap="square">
            <a:spAutoFit/>
          </a:bodyPr>
          <a:lstStyle/>
          <a:p>
            <a:pPr>
              <a:spcAft>
                <a:spcPts val="400"/>
              </a:spcAft>
            </a:pPr>
            <a:r>
              <a:rPr sz="1600" b="1">
                <a:solidFill>
                  <a:srgbClr val="1F2937"/>
                </a:solidFill>
              </a:rPr>
              <a:t>Human:  add a whatsapp button same as text message</a:t>
            </a:r>
          </a:p>
          <a:p>
            <a:pPr>
              <a:spcAft>
                <a:spcPts val="400"/>
              </a:spcAft>
            </a:pPr>
            <a:r>
              <a:rPr sz="1600" b="0">
                <a:solidFill>
                  <a:srgbClr val="6B7280"/>
                </a:solidFill>
              </a:rPr>
              <a:t>Claude Code:  (reads existing SMS code, adds Twilio WhatsApp wrapper, new endpoint, frontend button + panel, runs tests, opens PR)</a:t>
            </a:r>
          </a:p>
        </p:txBody>
      </p:sp>
      <p:sp>
        <p:nvSpPr>
          <p:cNvPr id="6" name="TextBox 5"/>
          <p:cNvSpPr txBox="1"/>
          <p:nvPr/>
        </p:nvSpPr>
        <p:spPr>
          <a:xfrm>
            <a:off x="548640" y="5212080"/>
            <a:ext cx="10972800" cy="914400"/>
          </a:xfrm>
          <a:prstGeom prst="rect">
            <a:avLst/>
          </a:prstGeom>
          <a:noFill/>
        </p:spPr>
        <p:txBody>
          <a:bodyPr wrap="square">
            <a:spAutoFit/>
          </a:bodyPr>
          <a:lstStyle/>
          <a:p>
            <a:pPr algn="l"/>
            <a:r>
              <a:rPr sz="1600" b="1" i="0">
                <a:solidFill>
                  <a:srgbClr val="4F46E5"/>
                </a:solidFill>
              </a:rPr>
              <a:t>Ten minutes later: green button on the dashboard, real WhatsApp delivered to a phone.</a:t>
            </a:r>
          </a:p>
        </p:txBody>
      </p:sp>
      <p:sp>
        <p:nvSpPr>
          <p:cNvPr id="7" name="TextBox 6"/>
          <p:cNvSpPr txBox="1"/>
          <p:nvPr/>
        </p:nvSpPr>
        <p:spPr>
          <a:xfrm>
            <a:off x="548640" y="6035040"/>
            <a:ext cx="10972800" cy="457200"/>
          </a:xfrm>
          <a:prstGeom prst="rect">
            <a:avLst/>
          </a:prstGeom>
          <a:noFill/>
        </p:spPr>
        <p:txBody>
          <a:bodyPr wrap="square">
            <a:spAutoFit/>
          </a:bodyPr>
          <a:lstStyle/>
          <a:p>
            <a:pPr algn="l"/>
            <a:r>
              <a:rPr sz="1300" b="0" i="0">
                <a:solidFill>
                  <a:srgbClr val="6B7280"/>
                </a:solidFill>
              </a:rPr>
              <a:t>What changed: the bottleneck stopped being typing code. It became knowing what to ask for — design, UX, prioritization.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1371600"/>
          </a:xfrm>
          <a:prstGeom prst="rect">
            <a:avLst/>
          </a:prstGeom>
          <a:noFill/>
        </p:spPr>
        <p:txBody>
          <a:bodyPr wrap="square">
            <a:spAutoFit/>
          </a:bodyPr>
          <a:lstStyle/>
          <a:p>
            <a:pPr algn="l"/>
            <a:r>
              <a:rPr sz="3600" b="1" i="0">
                <a:solidFill>
                  <a:srgbClr val="4F46E5"/>
                </a:solidFill>
              </a:rPr>
              <a:t>Agentic AI — beyond chat</a:t>
            </a:r>
          </a:p>
        </p:txBody>
      </p:sp>
      <p:sp>
        <p:nvSpPr>
          <p:cNvPr id="3" name="TextBox 2"/>
          <p:cNvSpPr txBox="1"/>
          <p:nvPr/>
        </p:nvSpPr>
        <p:spPr>
          <a:xfrm>
            <a:off x="548640" y="1554480"/>
            <a:ext cx="10972800" cy="548640"/>
          </a:xfrm>
          <a:prstGeom prst="rect">
            <a:avLst/>
          </a:prstGeom>
          <a:noFill/>
        </p:spPr>
        <p:txBody>
          <a:bodyPr wrap="square">
            <a:spAutoFit/>
          </a:bodyPr>
          <a:lstStyle/>
          <a:p>
            <a:pPr algn="l"/>
            <a:r>
              <a:rPr sz="2200" b="1" i="0">
                <a:solidFill>
                  <a:srgbClr val="4F46E5"/>
                </a:solidFill>
              </a:rPr>
              <a:t>Most AI today answers. Agentic AI acts.</a:t>
            </a:r>
          </a:p>
        </p:txBody>
      </p:sp>
      <p:sp>
        <p:nvSpPr>
          <p:cNvPr id="4" name="TextBox 3"/>
          <p:cNvSpPr txBox="1"/>
          <p:nvPr/>
        </p:nvSpPr>
        <p:spPr>
          <a:xfrm>
            <a:off x="548640" y="2286000"/>
            <a:ext cx="10972800" cy="457200"/>
          </a:xfrm>
          <a:prstGeom prst="rect">
            <a:avLst/>
          </a:prstGeom>
          <a:noFill/>
        </p:spPr>
        <p:txBody>
          <a:bodyPr wrap="square">
            <a:spAutoFit/>
          </a:bodyPr>
          <a:lstStyle/>
          <a:p>
            <a:pPr algn="l"/>
            <a:r>
              <a:rPr sz="1600" b="0" i="0">
                <a:solidFill>
                  <a:srgbClr val="1F2937"/>
                </a:solidFill>
              </a:rPr>
              <a:t>In this project, the AI:</a:t>
            </a:r>
          </a:p>
        </p:txBody>
      </p:sp>
      <p:sp>
        <p:nvSpPr>
          <p:cNvPr id="5" name="TextBox 4"/>
          <p:cNvSpPr txBox="1"/>
          <p:nvPr/>
        </p:nvSpPr>
        <p:spPr>
          <a:xfrm>
            <a:off x="731520" y="2834640"/>
            <a:ext cx="10972800" cy="3657600"/>
          </a:xfrm>
          <a:prstGeom prst="rect">
            <a:avLst/>
          </a:prstGeom>
          <a:noFill/>
        </p:spPr>
        <p:txBody>
          <a:bodyPr wrap="square">
            <a:spAutoFit/>
          </a:bodyPr>
          <a:lstStyle/>
          <a:p>
            <a:pPr>
              <a:spcAft>
                <a:spcPts val="400"/>
              </a:spcAft>
            </a:pPr>
            <a:r>
              <a:rPr sz="1500">
                <a:solidFill>
                  <a:srgbClr val="1F2937"/>
                </a:solidFill>
              </a:rPr>
              <a:t>✓ Read existing code to match conventions</a:t>
            </a:r>
          </a:p>
          <a:p>
            <a:pPr>
              <a:spcAft>
                <a:spcPts val="400"/>
              </a:spcAft>
            </a:pPr>
            <a:r>
              <a:rPr sz="1500">
                <a:solidFill>
                  <a:srgbClr val="1F2937"/>
                </a:solidFill>
              </a:rPr>
              <a:t>✓ Edited multiple files in one go</a:t>
            </a:r>
          </a:p>
          <a:p>
            <a:pPr>
              <a:spcAft>
                <a:spcPts val="400"/>
              </a:spcAft>
            </a:pPr>
            <a:r>
              <a:rPr sz="1500">
                <a:solidFill>
                  <a:srgbClr val="1F2937"/>
                </a:solidFill>
              </a:rPr>
              <a:t>✓ Ran npm, pip, pytest, git, aws, curl</a:t>
            </a:r>
          </a:p>
          <a:p>
            <a:pPr>
              <a:spcAft>
                <a:spcPts val="400"/>
              </a:spcAft>
            </a:pPr>
            <a:r>
              <a:rPr sz="1500">
                <a:solidFill>
                  <a:srgbClr val="1F2937"/>
                </a:solidFill>
              </a:rPr>
              <a:t>✓ Deployed to AWS (ECS, ALB, CloudFront, Secrets Manager)</a:t>
            </a:r>
          </a:p>
          <a:p>
            <a:pPr>
              <a:spcAft>
                <a:spcPts val="400"/>
              </a:spcAft>
            </a:pPr>
            <a:r>
              <a:rPr sz="1500">
                <a:solidFill>
                  <a:srgbClr val="1F2937"/>
                </a:solidFill>
              </a:rPr>
              <a:t>✓ Diagnosed real bugs (JWT signing algorithm mismatch, DNS misconfig)</a:t>
            </a:r>
          </a:p>
          <a:p>
            <a:pPr>
              <a:spcAft>
                <a:spcPts val="400"/>
              </a:spcAft>
            </a:pPr>
            <a:r>
              <a:rPr sz="1500">
                <a:solidFill>
                  <a:srgbClr val="1F2937"/>
                </a:solidFill>
              </a:rPr>
              <a:t>✓ Rotated leaked credentials</a:t>
            </a:r>
          </a:p>
          <a:p>
            <a:pPr>
              <a:spcAft>
                <a:spcPts val="400"/>
              </a:spcAft>
            </a:pPr>
            <a:r>
              <a:rPr sz="1500">
                <a:solidFill>
                  <a:srgbClr val="1F2937"/>
                </a:solidFill>
              </a:rPr>
              <a:t>✓ Wrote SQL migrations, applied them, verified data</a:t>
            </a:r>
          </a:p>
        </p:txBody>
      </p:sp>
      <p:sp>
        <p:nvSpPr>
          <p:cNvPr id="6" name="TextBox 5"/>
          <p:cNvSpPr txBox="1"/>
          <p:nvPr/>
        </p:nvSpPr>
        <p:spPr>
          <a:xfrm>
            <a:off x="548640" y="6217920"/>
            <a:ext cx="10972800" cy="457200"/>
          </a:xfrm>
          <a:prstGeom prst="rect">
            <a:avLst/>
          </a:prstGeom>
          <a:noFill/>
        </p:spPr>
        <p:txBody>
          <a:bodyPr wrap="square">
            <a:spAutoFit/>
          </a:bodyPr>
          <a:lstStyle/>
          <a:p>
            <a:pPr algn="l"/>
            <a:r>
              <a:rPr sz="1500" b="0" i="1">
                <a:solidFill>
                  <a:srgbClr val="4F46E5"/>
                </a:solidFill>
              </a:rPr>
              <a:t>A single human + an agent → a small engineering team. Without the meetings.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1371600"/>
          </a:xfrm>
          <a:prstGeom prst="rect">
            <a:avLst/>
          </a:prstGeom>
          <a:noFill/>
        </p:spPr>
        <p:txBody>
          <a:bodyPr wrap="square">
            <a:spAutoFit/>
          </a:bodyPr>
          <a:lstStyle/>
          <a:p>
            <a:pPr algn="l"/>
            <a:r>
              <a:rPr sz="3600" b="1" i="0">
                <a:solidFill>
                  <a:srgbClr val="4F46E5"/>
                </a:solidFill>
              </a:rPr>
              <a:t>What's under the hood</a:t>
            </a:r>
          </a:p>
        </p:txBody>
      </p:sp>
      <p:sp>
        <p:nvSpPr>
          <p:cNvPr id="3" name="TextBox 2"/>
          <p:cNvSpPr txBox="1"/>
          <p:nvPr/>
        </p:nvSpPr>
        <p:spPr>
          <a:xfrm>
            <a:off x="548640" y="1554480"/>
            <a:ext cx="5486400" cy="457200"/>
          </a:xfrm>
          <a:prstGeom prst="rect">
            <a:avLst/>
          </a:prstGeom>
          <a:noFill/>
        </p:spPr>
        <p:txBody>
          <a:bodyPr wrap="square">
            <a:spAutoFit/>
          </a:bodyPr>
          <a:lstStyle/>
          <a:p>
            <a:pPr algn="l"/>
            <a:r>
              <a:rPr sz="1800" b="1" i="0">
                <a:solidFill>
                  <a:srgbClr val="1F2937"/>
                </a:solidFill>
              </a:rPr>
              <a:t>Web</a:t>
            </a:r>
          </a:p>
        </p:txBody>
      </p:sp>
      <p:sp>
        <p:nvSpPr>
          <p:cNvPr id="4" name="TextBox 3"/>
          <p:cNvSpPr txBox="1"/>
          <p:nvPr/>
        </p:nvSpPr>
        <p:spPr>
          <a:xfrm>
            <a:off x="548640" y="2011680"/>
            <a:ext cx="5669280" cy="1828800"/>
          </a:xfrm>
          <a:prstGeom prst="rect">
            <a:avLst/>
          </a:prstGeom>
          <a:noFill/>
        </p:spPr>
        <p:txBody>
          <a:bodyPr wrap="square">
            <a:spAutoFit/>
          </a:bodyPr>
          <a:lstStyle/>
          <a:p>
            <a:pPr>
              <a:spcAft>
                <a:spcPts val="400"/>
              </a:spcAft>
            </a:pPr>
            <a:r>
              <a:rPr sz="1400">
                <a:solidFill>
                  <a:srgbClr val="1F2937"/>
                </a:solidFill>
              </a:rPr>
              <a:t>• Next.js 16 (App Router, static export)</a:t>
            </a:r>
          </a:p>
          <a:p>
            <a:pPr>
              <a:spcAft>
                <a:spcPts val="400"/>
              </a:spcAft>
            </a:pPr>
            <a:r>
              <a:rPr sz="1400">
                <a:solidFill>
                  <a:srgbClr val="1F2937"/>
                </a:solidFill>
              </a:rPr>
              <a:t>• Tailwind CSS · Tiptap rich text</a:t>
            </a:r>
          </a:p>
          <a:p>
            <a:pPr>
              <a:spcAft>
                <a:spcPts val="400"/>
              </a:spcAft>
            </a:pPr>
            <a:r>
              <a:rPr sz="1400">
                <a:solidFill>
                  <a:srgbClr val="1F2937"/>
                </a:solidFill>
              </a:rPr>
              <a:t>• Supabase Auth (JWT ES256)</a:t>
            </a:r>
          </a:p>
        </p:txBody>
      </p:sp>
      <p:sp>
        <p:nvSpPr>
          <p:cNvPr id="5" name="TextBox 4"/>
          <p:cNvSpPr txBox="1"/>
          <p:nvPr/>
        </p:nvSpPr>
        <p:spPr>
          <a:xfrm>
            <a:off x="548640" y="3840480"/>
            <a:ext cx="5486400" cy="457200"/>
          </a:xfrm>
          <a:prstGeom prst="rect">
            <a:avLst/>
          </a:prstGeom>
          <a:noFill/>
        </p:spPr>
        <p:txBody>
          <a:bodyPr wrap="square">
            <a:spAutoFit/>
          </a:bodyPr>
          <a:lstStyle/>
          <a:p>
            <a:pPr algn="l"/>
            <a:r>
              <a:rPr sz="1800" b="1" i="0">
                <a:solidFill>
                  <a:srgbClr val="1F2937"/>
                </a:solidFill>
              </a:rPr>
              <a:t>API</a:t>
            </a:r>
          </a:p>
        </p:txBody>
      </p:sp>
      <p:sp>
        <p:nvSpPr>
          <p:cNvPr id="6" name="TextBox 5"/>
          <p:cNvSpPr txBox="1"/>
          <p:nvPr/>
        </p:nvSpPr>
        <p:spPr>
          <a:xfrm>
            <a:off x="548640" y="4297680"/>
            <a:ext cx="5669280" cy="2286000"/>
          </a:xfrm>
          <a:prstGeom prst="rect">
            <a:avLst/>
          </a:prstGeom>
          <a:noFill/>
        </p:spPr>
        <p:txBody>
          <a:bodyPr wrap="square">
            <a:spAutoFit/>
          </a:bodyPr>
          <a:lstStyle/>
          <a:p>
            <a:pPr>
              <a:spcAft>
                <a:spcPts val="400"/>
              </a:spcAft>
            </a:pPr>
            <a:r>
              <a:rPr sz="1400">
                <a:solidFill>
                  <a:srgbClr val="1F2937"/>
                </a:solidFill>
              </a:rPr>
              <a:t>• FastAPI + Pydantic</a:t>
            </a:r>
          </a:p>
          <a:p>
            <a:pPr>
              <a:spcAft>
                <a:spcPts val="400"/>
              </a:spcAft>
            </a:pPr>
            <a:r>
              <a:rPr sz="1400">
                <a:solidFill>
                  <a:srgbClr val="1F2937"/>
                </a:solidFill>
              </a:rPr>
              <a:t>• Supabase Postgres</a:t>
            </a:r>
          </a:p>
          <a:p>
            <a:pPr>
              <a:spcAft>
                <a:spcPts val="400"/>
              </a:spcAft>
            </a:pPr>
            <a:r>
              <a:rPr sz="1400">
                <a:solidFill>
                  <a:srgbClr val="1F2937"/>
                </a:solidFill>
              </a:rPr>
              <a:t>• Anthropic Claude (intake assistant)</a:t>
            </a:r>
          </a:p>
          <a:p>
            <a:pPr>
              <a:spcAft>
                <a:spcPts val="400"/>
              </a:spcAft>
            </a:pPr>
            <a:r>
              <a:rPr sz="1400">
                <a:solidFill>
                  <a:srgbClr val="1F2937"/>
                </a:solidFill>
              </a:rPr>
              <a:t>• Twilio (SMS / WhatsApp)</a:t>
            </a:r>
          </a:p>
          <a:p>
            <a:pPr>
              <a:spcAft>
                <a:spcPts val="400"/>
              </a:spcAft>
            </a:pPr>
            <a:r>
              <a:rPr sz="1400">
                <a:solidFill>
                  <a:srgbClr val="1F2937"/>
                </a:solidFill>
              </a:rPr>
              <a:t>• Resend (email)</a:t>
            </a:r>
          </a:p>
        </p:txBody>
      </p:sp>
      <p:sp>
        <p:nvSpPr>
          <p:cNvPr id="7" name="TextBox 6"/>
          <p:cNvSpPr txBox="1"/>
          <p:nvPr/>
        </p:nvSpPr>
        <p:spPr>
          <a:xfrm>
            <a:off x="6400800" y="1554480"/>
            <a:ext cx="5486400" cy="457200"/>
          </a:xfrm>
          <a:prstGeom prst="rect">
            <a:avLst/>
          </a:prstGeom>
          <a:noFill/>
        </p:spPr>
        <p:txBody>
          <a:bodyPr wrap="square">
            <a:spAutoFit/>
          </a:bodyPr>
          <a:lstStyle/>
          <a:p>
            <a:pPr algn="l"/>
            <a:r>
              <a:rPr sz="1800" b="1" i="0">
                <a:solidFill>
                  <a:srgbClr val="1F2937"/>
                </a:solidFill>
              </a:rPr>
              <a:t>Infra (when live)</a:t>
            </a:r>
          </a:p>
        </p:txBody>
      </p:sp>
      <p:sp>
        <p:nvSpPr>
          <p:cNvPr id="8" name="TextBox 7"/>
          <p:cNvSpPr txBox="1"/>
          <p:nvPr/>
        </p:nvSpPr>
        <p:spPr>
          <a:xfrm>
            <a:off x="6400800" y="2011680"/>
            <a:ext cx="5486400" cy="1828800"/>
          </a:xfrm>
          <a:prstGeom prst="rect">
            <a:avLst/>
          </a:prstGeom>
          <a:noFill/>
        </p:spPr>
        <p:txBody>
          <a:bodyPr wrap="square">
            <a:spAutoFit/>
          </a:bodyPr>
          <a:lstStyle/>
          <a:p>
            <a:pPr>
              <a:spcAft>
                <a:spcPts val="400"/>
              </a:spcAft>
            </a:pPr>
            <a:r>
              <a:rPr sz="1400">
                <a:solidFill>
                  <a:srgbClr val="1F2937"/>
                </a:solidFill>
              </a:rPr>
              <a:t>• AWS ECS Fargate · ALB</a:t>
            </a:r>
          </a:p>
          <a:p>
            <a:pPr>
              <a:spcAft>
                <a:spcPts val="400"/>
              </a:spcAft>
            </a:pPr>
            <a:r>
              <a:rPr sz="1400">
                <a:solidFill>
                  <a:srgbClr val="1F2937"/>
                </a:solidFill>
              </a:rPr>
              <a:t>• CloudFront + S3 (static web)</a:t>
            </a:r>
          </a:p>
          <a:p>
            <a:pPr>
              <a:spcAft>
                <a:spcPts val="400"/>
              </a:spcAft>
            </a:pPr>
            <a:r>
              <a:rPr sz="1400">
                <a:solidFill>
                  <a:srgbClr val="1F2937"/>
                </a:solidFill>
              </a:rPr>
              <a:t>• Secrets Manager</a:t>
            </a:r>
          </a:p>
          <a:p>
            <a:pPr>
              <a:spcAft>
                <a:spcPts val="400"/>
              </a:spcAft>
            </a:pPr>
            <a:r>
              <a:rPr sz="1400">
                <a:solidFill>
                  <a:srgbClr val="1F2937"/>
                </a:solidFill>
              </a:rPr>
              <a:t>• GitHub Actions CI/CD</a:t>
            </a:r>
          </a:p>
        </p:txBody>
      </p:sp>
      <p:sp>
        <p:nvSpPr>
          <p:cNvPr id="9" name="TextBox 8"/>
          <p:cNvSpPr txBox="1"/>
          <p:nvPr/>
        </p:nvSpPr>
        <p:spPr>
          <a:xfrm>
            <a:off x="6400800" y="3840480"/>
            <a:ext cx="5486400" cy="457200"/>
          </a:xfrm>
          <a:prstGeom prst="rect">
            <a:avLst/>
          </a:prstGeom>
          <a:noFill/>
        </p:spPr>
        <p:txBody>
          <a:bodyPr wrap="square">
            <a:spAutoFit/>
          </a:bodyPr>
          <a:lstStyle/>
          <a:p>
            <a:pPr algn="l"/>
            <a:r>
              <a:rPr sz="1800" b="1" i="0">
                <a:solidFill>
                  <a:srgbClr val="1F2937"/>
                </a:solidFill>
              </a:rPr>
              <a:t>Dev</a:t>
            </a:r>
          </a:p>
        </p:txBody>
      </p:sp>
      <p:sp>
        <p:nvSpPr>
          <p:cNvPr id="10" name="TextBox 9"/>
          <p:cNvSpPr txBox="1"/>
          <p:nvPr/>
        </p:nvSpPr>
        <p:spPr>
          <a:xfrm>
            <a:off x="6400800" y="4297680"/>
            <a:ext cx="5486400" cy="2286000"/>
          </a:xfrm>
          <a:prstGeom prst="rect">
            <a:avLst/>
          </a:prstGeom>
          <a:noFill/>
        </p:spPr>
        <p:txBody>
          <a:bodyPr wrap="square">
            <a:spAutoFit/>
          </a:bodyPr>
          <a:lstStyle/>
          <a:p>
            <a:pPr>
              <a:spcAft>
                <a:spcPts val="400"/>
              </a:spcAft>
            </a:pPr>
            <a:r>
              <a:rPr sz="1400">
                <a:solidFill>
                  <a:srgbClr val="1F2937"/>
                </a:solidFill>
              </a:rPr>
              <a:t>• Local-first: npm run dev + uvicorn</a:t>
            </a:r>
          </a:p>
          <a:p>
            <a:pPr>
              <a:spcAft>
                <a:spcPts val="400"/>
              </a:spcAft>
            </a:pPr>
            <a:r>
              <a:rPr sz="1400">
                <a:solidFill>
                  <a:srgbClr val="1F2937"/>
                </a:solidFill>
              </a:rPr>
              <a:t>• venv for isolation</a:t>
            </a:r>
          </a:p>
          <a:p>
            <a:pPr>
              <a:spcAft>
                <a:spcPts val="400"/>
              </a:spcAft>
            </a:pPr>
            <a:r>
              <a:rPr sz="1400">
                <a:solidFill>
                  <a:srgbClr val="1F2937"/>
                </a:solidFill>
              </a:rPr>
              <a:t>• Branches per feature, easy to revert</a:t>
            </a:r>
          </a:p>
        </p:txBody>
      </p:sp>
      <p:sp>
        <p:nvSpPr>
          <p:cNvPr id="11" name="TextBox 10"/>
          <p:cNvSpPr txBox="1"/>
          <p:nvPr/>
        </p:nvSpPr>
        <p:spPr>
          <a:xfrm>
            <a:off x="548640" y="6309360"/>
            <a:ext cx="10972800" cy="365760"/>
          </a:xfrm>
          <a:prstGeom prst="rect">
            <a:avLst/>
          </a:prstGeom>
          <a:noFill/>
        </p:spPr>
        <p:txBody>
          <a:bodyPr wrap="square">
            <a:spAutoFit/>
          </a:bodyPr>
          <a:lstStyle/>
          <a:p>
            <a:pPr algn="l"/>
            <a:r>
              <a:rPr sz="1200" b="0" i="1">
                <a:solidFill>
                  <a:srgbClr val="6B7280"/>
                </a:solidFill>
              </a:rPr>
              <a:t>Every integration above was wired up by Claude Code, including the gnarly bits (DNS, IAM, secrets rotation).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1371600"/>
          </a:xfrm>
          <a:prstGeom prst="rect">
            <a:avLst/>
          </a:prstGeom>
          <a:noFill/>
        </p:spPr>
        <p:txBody>
          <a:bodyPr wrap="square">
            <a:spAutoFit/>
          </a:bodyPr>
          <a:lstStyle/>
          <a:p>
            <a:pPr algn="l"/>
            <a:r>
              <a:rPr sz="3600" b="1" i="0">
                <a:solidFill>
                  <a:srgbClr val="4F46E5"/>
                </a:solidFill>
              </a:rPr>
              <a:t>How you can help — non-technical</a:t>
            </a:r>
          </a:p>
        </p:txBody>
      </p:sp>
      <p:sp>
        <p:nvSpPr>
          <p:cNvPr id="3" name="TextBox 2"/>
          <p:cNvSpPr txBox="1"/>
          <p:nvPr/>
        </p:nvSpPr>
        <p:spPr>
          <a:xfrm>
            <a:off x="548640" y="1554480"/>
            <a:ext cx="10972800" cy="457200"/>
          </a:xfrm>
          <a:prstGeom prst="rect">
            <a:avLst/>
          </a:prstGeom>
          <a:noFill/>
        </p:spPr>
        <p:txBody>
          <a:bodyPr wrap="square">
            <a:spAutoFit/>
          </a:bodyPr>
          <a:lstStyle/>
          <a:p>
            <a:pPr algn="l"/>
            <a:r>
              <a:rPr sz="1800" b="1" i="0">
                <a:solidFill>
                  <a:srgbClr val="4F46E5"/>
                </a:solidFill>
              </a:rPr>
              <a:t>You don't need to write code to make this better.</a:t>
            </a:r>
          </a:p>
        </p:txBody>
      </p:sp>
      <p:sp>
        <p:nvSpPr>
          <p:cNvPr id="4" name="TextBox 3"/>
          <p:cNvSpPr txBox="1"/>
          <p:nvPr/>
        </p:nvSpPr>
        <p:spPr>
          <a:xfrm>
            <a:off x="548640" y="2286000"/>
            <a:ext cx="10972800" cy="4114800"/>
          </a:xfrm>
          <a:prstGeom prst="rect">
            <a:avLst/>
          </a:prstGeom>
          <a:noFill/>
        </p:spPr>
        <p:txBody>
          <a:bodyPr wrap="square">
            <a:spAutoFit/>
          </a:bodyPr>
          <a:lstStyle/>
          <a:p>
            <a:pPr>
              <a:spcAft>
                <a:spcPts val="400"/>
              </a:spcAft>
            </a:pPr>
            <a:r>
              <a:rPr sz="1500">
                <a:solidFill>
                  <a:srgbClr val="1F2937"/>
                </a:solidFill>
              </a:rPr>
              <a:t>• Try it. Submit a fake intake. Tell us what was confusing.</a:t>
            </a:r>
          </a:p>
          <a:p>
            <a:pPr>
              <a:spcAft>
                <a:spcPts val="400"/>
              </a:spcAft>
            </a:pPr>
            <a:r>
              <a:rPr sz="1500">
                <a:solidFill>
                  <a:srgbClr val="1F2937"/>
                </a:solidFill>
              </a:rPr>
              <a:t>• Translate. Are the AI's prompts kind / clear in your language? Help us tune them.</a:t>
            </a:r>
          </a:p>
          <a:p>
            <a:pPr>
              <a:spcAft>
                <a:spcPts val="400"/>
              </a:spcAft>
            </a:pPr>
            <a:r>
              <a:rPr sz="1500">
                <a:solidFill>
                  <a:srgbClr val="1F2937"/>
                </a:solidFill>
              </a:rPr>
              <a:t>• Pilot it. Run an intake or two for your org and tell us what's missing.</a:t>
            </a:r>
          </a:p>
          <a:p>
            <a:pPr>
              <a:spcAft>
                <a:spcPts val="400"/>
              </a:spcAft>
            </a:pPr>
            <a:r>
              <a:rPr sz="1500">
                <a:solidFill>
                  <a:srgbClr val="1F2937"/>
                </a:solidFill>
              </a:rPr>
              <a:t>• Design. The landing page, the email templates, the SMS phrasing — these need a human touch.</a:t>
            </a:r>
          </a:p>
          <a:p>
            <a:pPr>
              <a:spcAft>
                <a:spcPts val="400"/>
              </a:spcAft>
            </a:pPr>
            <a:r>
              <a:rPr sz="1500">
                <a:solidFill>
                  <a:srgbClr val="1F2937"/>
                </a:solidFill>
              </a:rPr>
              <a:t>• Write. Resource directory entries, FAQ, how-to guides for case managers.</a:t>
            </a:r>
          </a:p>
          <a:p>
            <a:pPr>
              <a:spcAft>
                <a:spcPts val="400"/>
              </a:spcAft>
            </a:pPr>
            <a:r>
              <a:rPr sz="1500">
                <a:solidFill>
                  <a:srgbClr val="1F2937"/>
                </a:solidFill>
              </a:rPr>
              <a:t>• Talk to people. Spread the word to orgs and to people who need help.</a:t>
            </a:r>
          </a:p>
        </p:txBody>
      </p:sp>
      <p:sp>
        <p:nvSpPr>
          <p:cNvPr id="5" name="TextBox 4"/>
          <p:cNvSpPr txBox="1"/>
          <p:nvPr/>
        </p:nvSpPr>
        <p:spPr>
          <a:xfrm>
            <a:off x="548640" y="6126480"/>
            <a:ext cx="10972800" cy="457200"/>
          </a:xfrm>
          <a:prstGeom prst="rect">
            <a:avLst/>
          </a:prstGeom>
          <a:noFill/>
        </p:spPr>
        <p:txBody>
          <a:bodyPr wrap="square">
            <a:spAutoFit/>
          </a:bodyPr>
          <a:lstStyle/>
          <a:p>
            <a:pPr algn="l"/>
            <a:r>
              <a:rPr sz="1400" b="0" i="1">
                <a:solidFill>
                  <a:srgbClr val="4F46E5"/>
                </a:solidFill>
              </a:rPr>
              <a:t>The features above were prioritized by someone like you telling the team what mattered.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1371600"/>
          </a:xfrm>
          <a:prstGeom prst="rect">
            <a:avLst/>
          </a:prstGeom>
          <a:noFill/>
        </p:spPr>
        <p:txBody>
          <a:bodyPr wrap="square">
            <a:spAutoFit/>
          </a:bodyPr>
          <a:lstStyle/>
          <a:p>
            <a:pPr algn="l"/>
            <a:r>
              <a:rPr sz="3600" b="1" i="0">
                <a:solidFill>
                  <a:srgbClr val="4F46E5"/>
                </a:solidFill>
              </a:rPr>
              <a:t>How you can help — technical</a:t>
            </a:r>
          </a:p>
        </p:txBody>
      </p:sp>
      <p:sp>
        <p:nvSpPr>
          <p:cNvPr id="3" name="TextBox 2"/>
          <p:cNvSpPr txBox="1"/>
          <p:nvPr/>
        </p:nvSpPr>
        <p:spPr>
          <a:xfrm>
            <a:off x="548640" y="1554480"/>
            <a:ext cx="10972800" cy="548640"/>
          </a:xfrm>
          <a:prstGeom prst="rect">
            <a:avLst/>
          </a:prstGeom>
          <a:noFill/>
        </p:spPr>
        <p:txBody>
          <a:bodyPr wrap="square">
            <a:spAutoFit/>
          </a:bodyPr>
          <a:lstStyle/>
          <a:p>
            <a:pPr algn="l"/>
            <a:r>
              <a:rPr sz="1600" b="0" i="0">
                <a:solidFill>
                  <a:srgbClr val="1F2937"/>
                </a:solidFill>
              </a:rPr>
              <a:t>If you code (or want to learn), Claude Code makes this exceptionally low-friction to contribute.</a:t>
            </a:r>
          </a:p>
        </p:txBody>
      </p:sp>
      <p:sp>
        <p:nvSpPr>
          <p:cNvPr id="4" name="TextBox 3"/>
          <p:cNvSpPr txBox="1"/>
          <p:nvPr/>
        </p:nvSpPr>
        <p:spPr>
          <a:xfrm>
            <a:off x="548640" y="2377440"/>
            <a:ext cx="10972800" cy="3657600"/>
          </a:xfrm>
          <a:prstGeom prst="rect">
            <a:avLst/>
          </a:prstGeom>
          <a:noFill/>
        </p:spPr>
        <p:txBody>
          <a:bodyPr wrap="square">
            <a:spAutoFit/>
          </a:bodyPr>
          <a:lstStyle/>
          <a:p>
            <a:pPr>
              <a:spcAft>
                <a:spcPts val="400"/>
              </a:spcAft>
            </a:pPr>
            <a:r>
              <a:rPr sz="1500" b="0">
                <a:solidFill>
                  <a:srgbClr val="1F2937"/>
                </a:solidFill>
              </a:rPr>
              <a:t>• Pick a feature from the roadmap below, branch it, ship it.</a:t>
            </a:r>
          </a:p>
          <a:p>
            <a:pPr>
              <a:spcAft>
                <a:spcPts val="400"/>
              </a:spcAft>
            </a:pPr>
            <a:r>
              <a:rPr sz="1400" b="0">
                <a:solidFill>
                  <a:srgbClr val="6B7280"/>
                </a:solidFill>
              </a:rPr>
              <a:t>    – File uploads (S3 task-role auth, currently stubbed)</a:t>
            </a:r>
          </a:p>
          <a:p>
            <a:pPr>
              <a:spcAft>
                <a:spcPts val="400"/>
              </a:spcAft>
            </a:pPr>
            <a:r>
              <a:rPr sz="1400" b="0">
                <a:solidFill>
                  <a:srgbClr val="6B7280"/>
                </a:solidFill>
              </a:rPr>
              <a:t>    – Audit log view (table already collects entries)</a:t>
            </a:r>
          </a:p>
          <a:p>
            <a:pPr>
              <a:spcAft>
                <a:spcPts val="400"/>
              </a:spcAft>
            </a:pPr>
            <a:r>
              <a:rPr sz="1400" b="0">
                <a:solidFill>
                  <a:srgbClr val="6B7280"/>
                </a:solidFill>
              </a:rPr>
              <a:t>    – Dashboard analytics (intake counts, response times)</a:t>
            </a:r>
          </a:p>
          <a:p>
            <a:pPr>
              <a:spcAft>
                <a:spcPts val="400"/>
              </a:spcAft>
            </a:pPr>
            <a:r>
              <a:rPr sz="1400" b="0">
                <a:solidFill>
                  <a:srgbClr val="6B7280"/>
                </a:solidFill>
              </a:rPr>
              <a:t>    – SMS opt-out + STOP-keyword handling</a:t>
            </a:r>
          </a:p>
          <a:p>
            <a:pPr>
              <a:spcAft>
                <a:spcPts val="400"/>
              </a:spcAft>
            </a:pPr>
            <a:r>
              <a:rPr sz="1400" b="0">
                <a:solidFill>
                  <a:srgbClr val="6B7280"/>
                </a:solidFill>
              </a:rPr>
              <a:t>    – Per-org branding</a:t>
            </a:r>
          </a:p>
          <a:p>
            <a:pPr>
              <a:spcAft>
                <a:spcPts val="400"/>
              </a:spcAft>
            </a:pPr>
            <a:r>
              <a:rPr sz="1500" b="0">
                <a:solidFill>
                  <a:srgbClr val="1F2937"/>
                </a:solidFill>
              </a:rPr>
              <a:t>• Bring your own AI. Claude Code, Cursor, whatever — the codebase reads cleanly for any agent.</a:t>
            </a:r>
          </a:p>
          <a:p>
            <a:pPr>
              <a:spcAft>
                <a:spcPts val="400"/>
              </a:spcAft>
            </a:pPr>
            <a:r>
              <a:rPr sz="1500" b="0">
                <a:solidFill>
                  <a:srgbClr val="1F2937"/>
                </a:solidFill>
              </a:rPr>
              <a:t>• No prior repo knowledge needed. Open the repo in your editor, type a request to your AI: "Add an X to Y." Read what it writes. Send a PR.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1371600"/>
          </a:xfrm>
          <a:prstGeom prst="rect">
            <a:avLst/>
          </a:prstGeom>
          <a:noFill/>
        </p:spPr>
        <p:txBody>
          <a:bodyPr wrap="square">
            <a:spAutoFit/>
          </a:bodyPr>
          <a:lstStyle/>
          <a:p>
            <a:pPr algn="l"/>
            <a:r>
              <a:rPr sz="3600" b="1" i="0">
                <a:solidFill>
                  <a:srgbClr val="4F46E5"/>
                </a:solidFill>
              </a:rPr>
              <a:t>What this demo just proved</a:t>
            </a:r>
          </a:p>
        </p:txBody>
      </p:sp>
      <p:sp>
        <p:nvSpPr>
          <p:cNvPr id="3" name="TextBox 2"/>
          <p:cNvSpPr txBox="1"/>
          <p:nvPr/>
        </p:nvSpPr>
        <p:spPr>
          <a:xfrm>
            <a:off x="548640" y="1645920"/>
            <a:ext cx="5486400" cy="457200"/>
          </a:xfrm>
          <a:prstGeom prst="rect">
            <a:avLst/>
          </a:prstGeom>
          <a:noFill/>
        </p:spPr>
        <p:txBody>
          <a:bodyPr wrap="square">
            <a:spAutoFit/>
          </a:bodyPr>
          <a:lstStyle/>
          <a:p>
            <a:pPr algn="l"/>
            <a:r>
              <a:rPr sz="1800" b="1" i="0">
                <a:solidFill>
                  <a:srgbClr val="1F2937"/>
                </a:solidFill>
              </a:rPr>
              <a:t>Most of what you saw was built in conversations.</a:t>
            </a:r>
          </a:p>
        </p:txBody>
      </p:sp>
      <p:sp>
        <p:nvSpPr>
          <p:cNvPr id="4" name="TextBox 3"/>
          <p:cNvSpPr txBox="1"/>
          <p:nvPr/>
        </p:nvSpPr>
        <p:spPr>
          <a:xfrm>
            <a:off x="548640" y="2377440"/>
            <a:ext cx="5669280" cy="3657600"/>
          </a:xfrm>
          <a:prstGeom prst="rect">
            <a:avLst/>
          </a:prstGeom>
          <a:noFill/>
        </p:spPr>
        <p:txBody>
          <a:bodyPr wrap="square">
            <a:spAutoFit/>
          </a:bodyPr>
          <a:lstStyle/>
          <a:p>
            <a:pPr>
              <a:spcAft>
                <a:spcPts val="400"/>
              </a:spcAft>
            </a:pPr>
            <a:r>
              <a:rPr sz="1500">
                <a:solidFill>
                  <a:srgbClr val="1F2937"/>
                </a:solidFill>
              </a:rPr>
              <a:t>• 4 feature branches, all merged</a:t>
            </a:r>
          </a:p>
          <a:p>
            <a:pPr>
              <a:spcAft>
                <a:spcPts val="400"/>
              </a:spcAft>
            </a:pPr>
            <a:r>
              <a:rPr sz="1500">
                <a:solidFill>
                  <a:srgbClr val="1F2937"/>
                </a:solidFill>
              </a:rPr>
              <a:t>• 20+ committed features</a:t>
            </a:r>
          </a:p>
          <a:p>
            <a:pPr>
              <a:spcAft>
                <a:spcPts val="400"/>
              </a:spcAft>
            </a:pPr>
            <a:r>
              <a:rPr sz="1500">
                <a:solidFill>
                  <a:srgbClr val="1F2937"/>
                </a:solidFill>
              </a:rPr>
              <a:t>• 3 messaging providers integrated end-to-end</a:t>
            </a:r>
          </a:p>
          <a:p>
            <a:pPr>
              <a:spcAft>
                <a:spcPts val="400"/>
              </a:spcAft>
            </a:pPr>
            <a:r>
              <a:rPr sz="1500">
                <a:solidFill>
                  <a:srgbClr val="1F2937"/>
                </a:solidFill>
              </a:rPr>
              <a:t>• 1 full AWS deploy + teardown</a:t>
            </a:r>
          </a:p>
          <a:p>
            <a:pPr>
              <a:spcAft>
                <a:spcPts val="400"/>
              </a:spcAft>
            </a:pPr>
            <a:r>
              <a:rPr sz="1500">
                <a:solidFill>
                  <a:srgbClr val="1F2937"/>
                </a:solidFill>
              </a:rPr>
              <a:t>• A migration, a bug fix, and a UX iteration in the time it took to drink a coffee</a:t>
            </a:r>
          </a:p>
        </p:txBody>
      </p:sp>
      <p:sp>
        <p:nvSpPr>
          <p:cNvPr id="5" name="TextBox 4"/>
          <p:cNvSpPr txBox="1"/>
          <p:nvPr/>
        </p:nvSpPr>
        <p:spPr>
          <a:xfrm>
            <a:off x="6400800" y="1645920"/>
            <a:ext cx="5486400" cy="457200"/>
          </a:xfrm>
          <a:prstGeom prst="rect">
            <a:avLst/>
          </a:prstGeom>
          <a:noFill/>
        </p:spPr>
        <p:txBody>
          <a:bodyPr wrap="square">
            <a:spAutoFit/>
          </a:bodyPr>
          <a:lstStyle/>
          <a:p>
            <a:pPr algn="l"/>
            <a:r>
              <a:rPr sz="1800" b="1" i="0">
                <a:solidFill>
                  <a:srgbClr val="1F2937"/>
                </a:solidFill>
              </a:rPr>
              <a:t>The hard parts shifted:</a:t>
            </a:r>
          </a:p>
        </p:txBody>
      </p:sp>
      <p:sp>
        <p:nvSpPr>
          <p:cNvPr id="6" name="TextBox 5"/>
          <p:cNvSpPr txBox="1"/>
          <p:nvPr/>
        </p:nvSpPr>
        <p:spPr>
          <a:xfrm>
            <a:off x="6400800" y="2377440"/>
            <a:ext cx="5486400" cy="2743200"/>
          </a:xfrm>
          <a:prstGeom prst="rect">
            <a:avLst/>
          </a:prstGeom>
          <a:noFill/>
        </p:spPr>
        <p:txBody>
          <a:bodyPr wrap="square">
            <a:spAutoFit/>
          </a:bodyPr>
          <a:lstStyle/>
          <a:p>
            <a:pPr>
              <a:spcAft>
                <a:spcPts val="400"/>
              </a:spcAft>
            </a:pPr>
            <a:r>
              <a:rPr sz="1500">
                <a:solidFill>
                  <a:srgbClr val="1F2937"/>
                </a:solidFill>
              </a:rPr>
              <a:t>• Typing boilerplate  →  asking the right question</a:t>
            </a:r>
          </a:p>
          <a:p>
            <a:pPr>
              <a:spcAft>
                <a:spcPts val="400"/>
              </a:spcAft>
            </a:pPr>
            <a:r>
              <a:rPr sz="1500">
                <a:solidFill>
                  <a:srgbClr val="1F2937"/>
                </a:solidFill>
              </a:rPr>
              <a:t>• "How do I configure Twilio"  →  "what should the trial-vs-prod path look like"</a:t>
            </a:r>
          </a:p>
          <a:p>
            <a:pPr>
              <a:spcAft>
                <a:spcPts val="400"/>
              </a:spcAft>
            </a:pPr>
            <a:r>
              <a:rPr sz="1500">
                <a:solidFill>
                  <a:srgbClr val="1F2937"/>
                </a:solidFill>
              </a:rPr>
              <a:t>• Spinning up infra  →  deciding what's worth deploying</a:t>
            </a:r>
          </a:p>
        </p:txBody>
      </p:sp>
      <p:sp>
        <p:nvSpPr>
          <p:cNvPr id="7" name="TextBox 6"/>
          <p:cNvSpPr txBox="1"/>
          <p:nvPr/>
        </p:nvSpPr>
        <p:spPr>
          <a:xfrm>
            <a:off x="6400800" y="5029200"/>
            <a:ext cx="5486400" cy="1371600"/>
          </a:xfrm>
          <a:prstGeom prst="rect">
            <a:avLst/>
          </a:prstGeom>
          <a:noFill/>
        </p:spPr>
        <p:txBody>
          <a:bodyPr wrap="square">
            <a:spAutoFit/>
          </a:bodyPr>
          <a:lstStyle/>
          <a:p>
            <a:pPr algn="l"/>
            <a:r>
              <a:rPr sz="1500" b="1" i="1">
                <a:solidFill>
                  <a:srgbClr val="4F46E5"/>
                </a:solidFill>
              </a:rPr>
              <a:t>The remaining hard parts are judgment, taste, and care — exactly the things humans should own.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1371600"/>
          </a:xfrm>
          <a:prstGeom prst="rect">
            <a:avLst/>
          </a:prstGeom>
          <a:noFill/>
        </p:spPr>
        <p:txBody>
          <a:bodyPr wrap="square">
            <a:spAutoFit/>
          </a:bodyPr>
          <a:lstStyle/>
          <a:p>
            <a:pPr algn="l"/>
            <a:r>
              <a:rPr sz="3600" b="1" i="0">
                <a:solidFill>
                  <a:srgbClr val="4F46E5"/>
                </a:solidFill>
              </a:rPr>
              <a:t>Get involved</a:t>
            </a:r>
          </a:p>
        </p:txBody>
      </p:sp>
      <p:sp>
        <p:nvSpPr>
          <p:cNvPr id="3" name="TextBox 2"/>
          <p:cNvSpPr txBox="1"/>
          <p:nvPr/>
        </p:nvSpPr>
        <p:spPr>
          <a:xfrm>
            <a:off x="548640" y="1554480"/>
            <a:ext cx="5486400" cy="457200"/>
          </a:xfrm>
          <a:prstGeom prst="rect">
            <a:avLst/>
          </a:prstGeom>
          <a:noFill/>
        </p:spPr>
        <p:txBody>
          <a:bodyPr wrap="square">
            <a:spAutoFit/>
          </a:bodyPr>
          <a:lstStyle/>
          <a:p>
            <a:pPr algn="l"/>
            <a:r>
              <a:rPr sz="2000" b="1" i="0">
                <a:solidFill>
                  <a:srgbClr val="1F2937"/>
                </a:solidFill>
              </a:rPr>
              <a:t>Today</a:t>
            </a:r>
          </a:p>
        </p:txBody>
      </p:sp>
      <p:sp>
        <p:nvSpPr>
          <p:cNvPr id="4" name="TextBox 3"/>
          <p:cNvSpPr txBox="1"/>
          <p:nvPr/>
        </p:nvSpPr>
        <p:spPr>
          <a:xfrm>
            <a:off x="548640" y="2103120"/>
            <a:ext cx="5943600" cy="2286000"/>
          </a:xfrm>
          <a:prstGeom prst="rect">
            <a:avLst/>
          </a:prstGeom>
          <a:noFill/>
        </p:spPr>
        <p:txBody>
          <a:bodyPr wrap="square">
            <a:spAutoFit/>
          </a:bodyPr>
          <a:lstStyle/>
          <a:p>
            <a:pPr>
              <a:spcAft>
                <a:spcPts val="400"/>
              </a:spcAft>
            </a:pPr>
            <a:r>
              <a:rPr sz="1500">
                <a:solidFill>
                  <a:srgbClr val="1F2937"/>
                </a:solidFill>
              </a:rPr>
              <a:t>• Try the demo · INSERT URL</a:t>
            </a:r>
          </a:p>
          <a:p>
            <a:pPr>
              <a:spcAft>
                <a:spcPts val="400"/>
              </a:spcAft>
            </a:pPr>
            <a:r>
              <a:rPr sz="1500">
                <a:solidFill>
                  <a:srgbClr val="1F2937"/>
                </a:solidFill>
              </a:rPr>
              <a:t>• Star / fork the repo · github.com/aerrami/brightwayz-{api,web}</a:t>
            </a:r>
          </a:p>
          <a:p>
            <a:pPr>
              <a:spcAft>
                <a:spcPts val="400"/>
              </a:spcAft>
            </a:pPr>
            <a:r>
              <a:rPr sz="1500">
                <a:solidFill>
                  <a:srgbClr val="1F2937"/>
                </a:solidFill>
              </a:rPr>
              <a:t>• Join our Slack / Discord · INSERT LINK</a:t>
            </a:r>
          </a:p>
        </p:txBody>
      </p:sp>
      <p:sp>
        <p:nvSpPr>
          <p:cNvPr id="5" name="TextBox 4"/>
          <p:cNvSpPr txBox="1"/>
          <p:nvPr/>
        </p:nvSpPr>
        <p:spPr>
          <a:xfrm>
            <a:off x="548640" y="4114800"/>
            <a:ext cx="5486400" cy="457200"/>
          </a:xfrm>
          <a:prstGeom prst="rect">
            <a:avLst/>
          </a:prstGeom>
          <a:noFill/>
        </p:spPr>
        <p:txBody>
          <a:bodyPr wrap="square">
            <a:spAutoFit/>
          </a:bodyPr>
          <a:lstStyle/>
          <a:p>
            <a:pPr algn="l"/>
            <a:r>
              <a:rPr sz="2000" b="1" i="0">
                <a:solidFill>
                  <a:srgbClr val="1F2937"/>
                </a:solidFill>
              </a:rPr>
              <a:t>This week</a:t>
            </a:r>
          </a:p>
        </p:txBody>
      </p:sp>
      <p:sp>
        <p:nvSpPr>
          <p:cNvPr id="6" name="TextBox 5"/>
          <p:cNvSpPr txBox="1"/>
          <p:nvPr/>
        </p:nvSpPr>
        <p:spPr>
          <a:xfrm>
            <a:off x="548640" y="4663440"/>
            <a:ext cx="5943600" cy="2286000"/>
          </a:xfrm>
          <a:prstGeom prst="rect">
            <a:avLst/>
          </a:prstGeom>
          <a:noFill/>
        </p:spPr>
        <p:txBody>
          <a:bodyPr wrap="square">
            <a:spAutoFit/>
          </a:bodyPr>
          <a:lstStyle/>
          <a:p>
            <a:pPr>
              <a:spcAft>
                <a:spcPts val="400"/>
              </a:spcAft>
            </a:pPr>
            <a:r>
              <a:rPr sz="1500">
                <a:solidFill>
                  <a:srgbClr val="1F2937"/>
                </a:solidFill>
              </a:rPr>
              <a:t>• Pick one item from the "How you can help" lists</a:t>
            </a:r>
          </a:p>
          <a:p>
            <a:pPr>
              <a:spcAft>
                <a:spcPts val="400"/>
              </a:spcAft>
            </a:pPr>
            <a:r>
              <a:rPr sz="1500">
                <a:solidFill>
                  <a:srgbClr val="1F2937"/>
                </a:solidFill>
              </a:rPr>
              <a:t>• DM us with your name + what you'd like to try</a:t>
            </a:r>
          </a:p>
          <a:p>
            <a:pPr>
              <a:spcAft>
                <a:spcPts val="400"/>
              </a:spcAft>
            </a:pPr>
            <a:r>
              <a:rPr sz="1500">
                <a:solidFill>
                  <a:srgbClr val="1F2937"/>
                </a:solidFill>
              </a:rPr>
              <a:t>• We'll pair you with whoever's working on it</a:t>
            </a:r>
          </a:p>
        </p:txBody>
      </p:sp>
      <p:sp>
        <p:nvSpPr>
          <p:cNvPr id="7" name="TextBox 6"/>
          <p:cNvSpPr txBox="1"/>
          <p:nvPr/>
        </p:nvSpPr>
        <p:spPr>
          <a:xfrm>
            <a:off x="6858000" y="1554480"/>
            <a:ext cx="5486400" cy="457200"/>
          </a:xfrm>
          <a:prstGeom prst="rect">
            <a:avLst/>
          </a:prstGeom>
          <a:noFill/>
        </p:spPr>
        <p:txBody>
          <a:bodyPr wrap="square">
            <a:spAutoFit/>
          </a:bodyPr>
          <a:lstStyle/>
          <a:p>
            <a:pPr algn="l"/>
            <a:r>
              <a:rPr sz="2000" b="1" i="0">
                <a:solidFill>
                  <a:srgbClr val="1F2937"/>
                </a:solidFill>
              </a:rPr>
              <a:t>Contact</a:t>
            </a:r>
          </a:p>
        </p:txBody>
      </p:sp>
      <p:sp>
        <p:nvSpPr>
          <p:cNvPr id="8" name="TextBox 7"/>
          <p:cNvSpPr txBox="1"/>
          <p:nvPr/>
        </p:nvSpPr>
        <p:spPr>
          <a:xfrm>
            <a:off x="6858000" y="2103120"/>
            <a:ext cx="5029200" cy="2743200"/>
          </a:xfrm>
          <a:prstGeom prst="rect">
            <a:avLst/>
          </a:prstGeom>
          <a:noFill/>
        </p:spPr>
        <p:txBody>
          <a:bodyPr wrap="square">
            <a:spAutoFit/>
          </a:bodyPr>
          <a:lstStyle/>
          <a:p>
            <a:pPr>
              <a:spcAft>
                <a:spcPts val="400"/>
              </a:spcAft>
            </a:pPr>
            <a:r>
              <a:rPr sz="1500">
                <a:solidFill>
                  <a:srgbClr val="1F2937"/>
                </a:solidFill>
              </a:rPr>
              <a:t>✉  INSERT EMAIL</a:t>
            </a:r>
          </a:p>
          <a:p>
            <a:pPr>
              <a:spcAft>
                <a:spcPts val="400"/>
              </a:spcAft>
            </a:pPr>
            <a:r>
              <a:rPr sz="1500">
                <a:solidFill>
                  <a:srgbClr val="1F2937"/>
                </a:solidFill>
              </a:rPr>
              <a:t>🌐  INSERT SITE</a:t>
            </a:r>
          </a:p>
          <a:p>
            <a:pPr>
              <a:spcAft>
                <a:spcPts val="400"/>
              </a:spcAft>
            </a:pPr>
            <a:r>
              <a:rPr sz="1500">
                <a:solidFill>
                  <a:srgbClr val="1F2937"/>
                </a:solidFill>
              </a:rPr>
              <a:t>🐙  GITHUB ORG / HANDLE</a:t>
            </a:r>
          </a:p>
        </p:txBody>
      </p:sp>
      <p:sp>
        <p:nvSpPr>
          <p:cNvPr id="9" name="TextBox 8"/>
          <p:cNvSpPr txBox="1"/>
          <p:nvPr/>
        </p:nvSpPr>
        <p:spPr>
          <a:xfrm>
            <a:off x="6858000" y="4572000"/>
            <a:ext cx="5029200" cy="548640"/>
          </a:xfrm>
          <a:prstGeom prst="rect">
            <a:avLst/>
          </a:prstGeom>
          <a:noFill/>
        </p:spPr>
        <p:txBody>
          <a:bodyPr wrap="square">
            <a:spAutoFit/>
          </a:bodyPr>
          <a:lstStyle/>
          <a:p>
            <a:pPr algn="l"/>
            <a:r>
              <a:rPr sz="2600" b="1" i="0">
                <a:solidFill>
                  <a:srgbClr val="4F46E5"/>
                </a:solidFill>
              </a:rPr>
              <a:t>Thank you 💛</a:t>
            </a:r>
          </a:p>
        </p:txBody>
      </p:sp>
      <p:sp>
        <p:nvSpPr>
          <p:cNvPr id="10" name="TextBox 9"/>
          <p:cNvSpPr txBox="1"/>
          <p:nvPr/>
        </p:nvSpPr>
        <p:spPr>
          <a:xfrm>
            <a:off x="6858000" y="5303520"/>
            <a:ext cx="5029200" cy="914400"/>
          </a:xfrm>
          <a:prstGeom prst="rect">
            <a:avLst/>
          </a:prstGeom>
          <a:noFill/>
        </p:spPr>
        <p:txBody>
          <a:bodyPr wrap="square">
            <a:spAutoFit/>
          </a:bodyPr>
          <a:lstStyle/>
          <a:p>
            <a:pPr algn="l"/>
            <a:r>
              <a:rPr sz="1600" b="0" i="1">
                <a:solidFill>
                  <a:srgbClr val="6B7280"/>
                </a:solidFill>
              </a:rPr>
              <a:t>Building public-good software, faster — together.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